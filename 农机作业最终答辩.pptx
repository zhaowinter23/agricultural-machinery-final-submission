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3.svg" ContentType="image/svg+xml"/>
  <Override PartName="/ppt/media/image35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58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8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非常荣幸能在这里向各位老师汇报我们的企业实训项目——农机作业数据处理与分析软件。本次汇报将围绕项目的整体成果、技术实现和核心亮点展开。希望通过这次答辩，能让大家对我们的工作有一个全面的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将对我们的项目进行一个总体介绍。我们成功交付了一套完整的Web系统，它打通了农机作业数据从导入到分析的全流程。系统处理了8个地块的43,753个轨迹点，并实现了地图可视化。技术上，我们采用了Python/Django作为后端，SQLite作为数据库，并结合Leaflet和Chart.js实现了前端的可视化展示。整个项目由我们四人小组分工协作完成，目前已交付包括源码、国标文档在内的全部材料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的第一阶段，我们完成了所有基础功能的开发。这包括构建了用户与管理员双角色的权限体系，实现了完整的账号管理功能。在核心的地图可视化方面，我们基于Leaflet库实现了流畅的地图操作和多底图切换，并成功将所有轨迹数据渲染到地图上。此外，我们还开发了便捷的轨迹查询功能，并支持结果导出。数据管理模块则实现了CSV文件的批量导入与数据校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阶段，我们聚焦于作业量的统计分析。首先，我们对原始数据进行了深度清洗，成功剔除了因机关停歇造成的5.2小时无效时长，使统计结果更准确。基于清洗后的数据，我们计算出8个地块的总作业时长、行程、面积和平均速度等关键指标。为了直观展示这些数据，我们设计了多种图表，包括对比图、饼图、柱状图和雷达图，实现了多维度的数据分析。最终，我们得出了地块间作业量存在显著差异的结论，证明了系统在实际应用中的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证软件质量，我们建立了完善的自动化测试体系，涵盖了单元、集成和端到端三个层次，共31个测试用例。特别是基于Playwright的E2E测试，有效保障了核心功能的稳定。在开发过程中，我们克服了三大技术难点：首先，通过解析容错和入库校验，解决了GBK编码脏数据的问题；其次，通过智能算法剔除停歇数据，保证了作业时长统计的准确性；最后，通过会话与角色双重校验，有效防范了越权风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我们的项目进行总结。我们成功完成了所有预定任务，实现了数据的全流程贯通，并完整地实践了软件工程的各个环节。本项目的两大亮点在于：通过数据清洗保证了统计结果的准确性，以及通过三层自动化测试保障了系统的高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以上就是我们小组的全部汇报内容。感谢各位老师的耐心聆听，谢谢大家！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svg"/><Relationship Id="rId8" Type="http://schemas.openxmlformats.org/officeDocument/2006/relationships/image" Target="../media/image18.png"/><Relationship Id="rId7" Type="http://schemas.openxmlformats.org/officeDocument/2006/relationships/image" Target="../media/image17.svg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6.png"/><Relationship Id="rId7" Type="http://schemas.openxmlformats.org/officeDocument/2006/relationships/image" Target="../media/image25.svg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image" Target="../media/image28.jpe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5.svg"/><Relationship Id="rId7" Type="http://schemas.openxmlformats.org/officeDocument/2006/relationships/image" Target="../media/image34.png"/><Relationship Id="rId6" Type="http://schemas.openxmlformats.org/officeDocument/2006/relationships/image" Target="../media/image21.svg"/><Relationship Id="rId5" Type="http://schemas.openxmlformats.org/officeDocument/2006/relationships/image" Target="../media/image33.png"/><Relationship Id="rId4" Type="http://schemas.openxmlformats.org/officeDocument/2006/relationships/image" Target="../media/image19.svg"/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svg"/><Relationship Id="rId7" Type="http://schemas.openxmlformats.org/officeDocument/2006/relationships/image" Target="../media/image41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5.svg"/><Relationship Id="rId11" Type="http://schemas.openxmlformats.org/officeDocument/2006/relationships/image" Target="../media/image45.png"/><Relationship Id="rId10" Type="http://schemas.openxmlformats.org/officeDocument/2006/relationships/image" Target="../media/image44.sv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农机作业数据处理与分析软件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企业实训项目最终答辩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9000" y="4953000"/>
            <a:ext cx="10414000" cy="1397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5207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5207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8" name="Connector 8"/>
          <p:cNvCxnSpPr/>
          <p:nvPr/>
        </p:nvCxnSpPr>
        <p:spPr>
          <a:xfrm rot="5342709">
            <a:off x="4064000" y="5645203"/>
            <a:ext cx="76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5207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80000" y="520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小组成员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赵婉婷 · </a:t>
            </a:r>
            <a:r>
              <a:rPr lang="en-US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苏翔宇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· 陈敏 · </a:t>
            </a:r>
            <a:r>
              <a:rPr lang="en-US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王冰冰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1" name="Connector 11"/>
          <p:cNvCxnSpPr/>
          <p:nvPr/>
        </p:nvCxnSpPr>
        <p:spPr>
          <a:xfrm rot="5342709">
            <a:off x="7493000" y="5645203"/>
            <a:ext cx="76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8000" y="5207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509000" y="5207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答辩日期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2026年9月17日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项目与成果总览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73" r="73"/>
          <a:stretch>
            <a:fillRect/>
          </a:stretch>
        </p:blipFill>
        <p:spPr>
          <a:xfrm>
            <a:off x="762000" y="1524000"/>
            <a:ext cx="4318000" cy="288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90500" dist="63500" dir="2700000" algn="tl">
              <a:srgbClr val="00000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699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系统实现了从轨迹数据导入、清洗入库到地图可视化与多维分析的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全流程闭环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。界面直观展示农田地块分布、作物长势热力图及环境监测数据，为农业生产决策提供数字化支撑。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1524000"/>
            <a:ext cx="1968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461000" y="1676400"/>
            <a:ext cx="196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8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461000" y="2222500"/>
            <a:ext cx="1968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覆盖核心地块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556500" y="1524000"/>
            <a:ext cx="1968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556500" y="1676400"/>
            <a:ext cx="196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4.3万+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556500" y="2222500"/>
            <a:ext cx="1968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轨迹数据采集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652000" y="1524000"/>
            <a:ext cx="1968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652000" y="1676400"/>
            <a:ext cx="196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652000" y="2222500"/>
            <a:ext cx="1968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全量入库渲染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461000" y="3048000"/>
            <a:ext cx="2984500" cy="15875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588000" y="3175000"/>
            <a:ext cx="285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技术架构选型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588000" y="35814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/ Django 框架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SQLite 轻量数据库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Leaflet地图 + Chart.js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636000" y="3048000"/>
            <a:ext cx="2984500" cy="15875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763000" y="3175000"/>
            <a:ext cx="285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团队协作分工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665210" y="3547110"/>
            <a:ext cx="302006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赵婉婷：</a:t>
            </a:r>
            <a:r>
              <a:rPr lang="en-US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核心开发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统计分析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联调</a:t>
            </a:r>
            <a:endParaRPr lang="en-US" sz="14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王冰冰：</a:t>
            </a:r>
            <a:r>
              <a:rPr lang="en-US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模块扩展、测试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陈敏/苏翔宇：</a:t>
            </a:r>
            <a:r>
              <a:rPr lang="en-US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后端开发</a:t>
            </a:r>
            <a:r>
              <a:rPr lang="zh-CN" altLang="en-US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交付文档</a:t>
            </a:r>
            <a:endParaRPr lang="zh-CN" altLang="en-US" sz="14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5461000" y="5080000"/>
            <a:ext cx="6159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1500" y="52705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096000" y="5232400"/>
            <a:ext cx="552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完整交付成果包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包含系统完整源码、4份国标工程文档（需求/设计/数据库）及用户使用手册，快速部署。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阶段一成果：基础功能全部实现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80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双角色权限体系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34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构建用户与管理员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分级管理架构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，实现注册、登录及账号全生命周期管理。通过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严格的权限隔离机制与集成测试验证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，确保系统访问安全可控。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778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48500" y="180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地图可视化引擎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34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Leaflet开源库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打造，支持地图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缩放、漫游、测距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等交互操作，无缝切换遥感影像与矢量底图。8个地块轨迹数据全量渲染，画面流畅无卡顿。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064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318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87500" y="434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智能轨迹查询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88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支持按地块编号精准检索属性信息，查询结果分页展示，结构清晰。同时支持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将查询结果一键导出为Excel格式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，便于离线数据分析与存档，提升数据利用效率。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064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318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434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高效数据管理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88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支持GBK编码CSV文件批量导入，内置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重复数据校验机制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，保障数据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唯一性与准确性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。管理员可便捷执行地块信息删除及用户权限管理操作，维护数据整洁与系统秩序。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阶段二成果：作业量统计分析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714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714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作业总时长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159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48.9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小时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92500" y="1524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1714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064000" y="1714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作业总行程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83000" y="2159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284.1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公里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1115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302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33500" y="3302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累计作业面积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3746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1892.7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亩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492500" y="31115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83000" y="3302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064000" y="3302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田间平均速度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683000" y="3746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6.50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km/h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826000"/>
            <a:ext cx="52705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89000" y="4918710"/>
            <a:ext cx="5016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数据清洗与修正成效</a:t>
            </a:r>
            <a:endParaRPr lang="en-US" sz="1600" b="1" i="0" u="none" strike="noStrike">
              <a:solidFill>
                <a:srgbClr val="22C55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成功识别并剔除7次设备关机停歇点，累计去除无效时长5.2小时，修正后作业时长更精准。</a:t>
            </a:r>
            <a:r>
              <a:rPr lang="en-US" sz="1300" b="1" i="0" u="none" strike="noStrike">
                <a:solidFill>
                  <a:srgbClr val="37415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Noto Sans SC"/>
              </a:rPr>
              <a:t>有效工作状态点占比达82%</a:t>
            </a:r>
            <a:r>
              <a:rPr lang="en-US" sz="1300" b="0" i="0" u="none" strike="noStrike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，为后续核算提供了高质量的数据基础。</a:t>
            </a:r>
            <a:endParaRPr lang="en-US" sz="1300" b="0" i="0" u="none" strike="noStrike">
              <a:solidFill>
                <a:srgbClr val="37415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Noto Sans SC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667500" y="4445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794500" y="4534535"/>
            <a:ext cx="495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核心洞察与价值</a:t>
            </a:r>
            <a:endParaRPr lang="en-US" sz="1100" b="1" i="0" u="none" strike="noStrike">
              <a:solidFill>
                <a:srgbClr val="22C55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  <a:defRPr/>
            </a:pPr>
            <a:endParaRPr lang="en-US" sz="1100" b="1" i="0" u="none" strike="noStrike">
              <a:solidFill>
                <a:srgbClr val="22C55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地块作业量差异显著，其中</a:t>
            </a:r>
            <a:r>
              <a:rPr lang="en-US" sz="1300" b="1" i="0" u="none" strike="noStrike">
                <a:solidFill>
                  <a:srgbClr val="37415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Noto Sans SC"/>
              </a:rPr>
              <a:t>地块13表现最优</a:t>
            </a:r>
            <a:r>
              <a:rPr lang="en-US" sz="1300" b="0" i="0" u="none" strike="noStrike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Noto Sans SC"/>
              </a:rPr>
              <a:t>（面积340.6亩，均速8.81km/h）。系统通过多维度图表直观呈现数据，精准反映地块特性，为作业量核算、效率评估及后续农事规划提供了坚实的数据支撑。</a:t>
            </a:r>
            <a:endParaRPr lang="en-US" sz="1300" b="0" i="0" u="none" strike="noStrike">
              <a:solidFill>
                <a:srgbClr val="37415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Noto Sans SC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585585" y="1524000"/>
            <a:ext cx="5294630" cy="2564130"/>
            <a:chOff x="10371" y="2400"/>
            <a:chExt cx="8338" cy="4038"/>
          </a:xfrm>
        </p:grpSpPr>
        <p:grpSp>
          <p:nvGrpSpPr>
            <p:cNvPr id="28" name="组合 27"/>
            <p:cNvGrpSpPr/>
            <p:nvPr/>
          </p:nvGrpSpPr>
          <p:grpSpPr>
            <a:xfrm>
              <a:off x="10371" y="2400"/>
              <a:ext cx="8338" cy="4038"/>
              <a:chOff x="10371" y="2400"/>
              <a:chExt cx="8338" cy="4038"/>
            </a:xfrm>
          </p:grpSpPr>
          <p:pic>
            <p:nvPicPr>
              <p:cNvPr id="22" name="Picture 22"/>
              <p:cNvPicPr>
                <a:picLocks noChangeAspect="1"/>
              </p:cNvPicPr>
              <p:nvPr/>
            </p:nvPicPr>
            <p:blipFill>
              <a:blip r:embed="rId10">
                <a:alphaModFix amt="32000"/>
              </a:blip>
              <a:srcRect t="16568" r="3250" b="123"/>
              <a:stretch>
                <a:fillRect/>
              </a:stretch>
            </p:blipFill>
            <p:spPr>
              <a:xfrm>
                <a:off x="10371" y="2400"/>
                <a:ext cx="8338" cy="4039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E5E7EB">
                    <a:alpha val="100000"/>
                  </a:srgbClr>
                </a:solidFill>
                <a:prstDash val="solid"/>
                <a:round/>
              </a:ln>
              <a:effectLst>
                <a:outerShdw blurRad="127000" dist="50800" dir="2700000" algn="tl">
                  <a:srgbClr val="000000">
                    <a:alpha val="10000"/>
                  </a:srgbClr>
                </a:outerShdw>
              </a:effectLst>
            </p:spPr>
          </p:pic>
          <p:pic>
            <p:nvPicPr>
              <p:cNvPr id="25" name="图片 24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606" y="2400"/>
                <a:ext cx="2468" cy="780"/>
              </a:xfrm>
              <a:prstGeom prst="rect">
                <a:avLst/>
              </a:prstGeom>
            </p:spPr>
          </p:pic>
          <p:pic>
            <p:nvPicPr>
              <p:cNvPr id="26" name="图片 25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038" y="2550"/>
                <a:ext cx="1573" cy="497"/>
              </a:xfrm>
              <a:prstGeom prst="rect">
                <a:avLst/>
              </a:prstGeom>
            </p:spPr>
          </p:pic>
          <p:pic>
            <p:nvPicPr>
              <p:cNvPr id="27" name="图片 26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455" y="5680"/>
                <a:ext cx="3375" cy="372"/>
              </a:xfrm>
              <a:prstGeom prst="rect">
                <a:avLst/>
              </a:prstGeom>
            </p:spPr>
          </p:pic>
        </p:grp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700" y="4900"/>
              <a:ext cx="275" cy="5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软件测试与关键技术</a:t>
            </a:r>
            <a:endParaRPr lang="en-US" sz="3200" b="1" i="0" u="none" strike="noStrike">
              <a:solidFill>
                <a:srgbClr val="374151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29" b="29"/>
          <a:stretch>
            <a:fillRect/>
          </a:stretch>
        </p:blipFill>
        <p:spPr>
          <a:xfrm>
            <a:off x="762000" y="1651000"/>
            <a:ext cx="3556000" cy="287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699000"/>
            <a:ext cx="35560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89000" y="4826000"/>
            <a:ext cx="330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自动化测试体系全覆盖</a:t>
            </a:r>
            <a:endParaRPr lang="en-US" sz="11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构建包含31个用例的独立测试工程，覆盖</a:t>
            </a:r>
            <a:r>
              <a:rPr lang="en-US" sz="1300" b="1" i="0" u="none" strike="noStrike">
                <a:solidFill>
                  <a:srgbClr val="4B556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Noto Sans SC"/>
              </a:rPr>
              <a:t>单元、集成及端到端(E2E)</a:t>
            </a:r>
            <a:r>
              <a:rPr lang="en-US" sz="1300" b="0" i="0" u="none" strike="noStrike">
                <a:solidFill>
                  <a:srgbClr val="4B556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测试。基于Playwright框架在真实浏览器环境验证，确保核心业务功能零缺陷交付。</a:t>
            </a:r>
            <a:endParaRPr lang="en-US" sz="1300" b="0" i="0" u="none" strike="noStrike">
              <a:solidFill>
                <a:srgbClr val="4B556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2000" y="1651000"/>
            <a:ext cx="7112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72000" y="1651000"/>
            <a:ext cx="762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1841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1778000"/>
            <a:ext cx="622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01 数据解析与入库容错机制</a:t>
            </a:r>
            <a:endParaRPr lang="en-US" sz="11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痛点：</a:t>
            </a:r>
            <a:r>
              <a:rPr lang="en-US" sz="1300" b="0" i="0" u="none" strike="noStrike">
                <a:solidFill>
                  <a:srgbClr val="4B556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原始数据为GBK编码，且夹杂脏数据与重复值，易导致入库失败。</a:t>
            </a:r>
            <a:br>
              <a:rPr lang="en-US" sz="1600" b="0" i="0" u="none" strike="noStrike">
                <a:solidFill>
                  <a:srgbClr val="1F2329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</a:br>
            <a:r>
              <a:rPr lang="en-US" sz="1300" b="1" i="0" u="none" strike="noStrike">
                <a:solidFill>
                  <a:srgbClr val="4B556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方案：</a:t>
            </a:r>
            <a:r>
              <a:rPr lang="en-US" sz="1300" b="0" i="0" u="none" strike="noStrike">
                <a:solidFill>
                  <a:srgbClr val="4B556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部署智能解析容错，入库前进行</a:t>
            </a:r>
            <a:r>
              <a:rPr lang="en-US" sz="1300" b="1" i="0" u="none" strike="noStrike">
                <a:solidFill>
                  <a:srgbClr val="4B556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  <a:sym typeface="Noto Sans SC"/>
              </a:rPr>
              <a:t>多维度校验清洗</a:t>
            </a:r>
            <a:r>
              <a:rPr lang="en-US" sz="1300" b="0" i="0" u="none" strike="noStrike">
                <a:solidFill>
                  <a:srgbClr val="4B556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，实现43,753条数据全量零丢失入库。</a:t>
            </a:r>
            <a:endParaRPr lang="en-US" sz="1300" b="0" i="0" u="none" strike="noStrike">
              <a:solidFill>
                <a:srgbClr val="4B556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572000" y="3238500"/>
            <a:ext cx="7112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572000" y="3238500"/>
            <a:ext cx="762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6000" y="3429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334000" y="3365500"/>
            <a:ext cx="622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02 智能作业时长精准核算</a:t>
            </a:r>
            <a:endParaRPr lang="en-US" sz="11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痛点：</a:t>
            </a:r>
            <a:r>
              <a:rPr lang="en-US" sz="1300" b="0" i="0" u="none" strike="noStrike">
                <a:solidFill>
                  <a:srgbClr val="4B556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设备关机停歇轨迹混入有效作业记录，导致统计结果虚高。</a:t>
            </a:r>
            <a:br>
              <a:rPr lang="en-US" sz="1600" b="0" i="0" u="none" strike="noStrike">
                <a:solidFill>
                  <a:srgbClr val="1F2329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</a:br>
            <a:r>
              <a:rPr lang="en-US" sz="1300" b="1" i="0" u="none" strike="noStrike">
                <a:solidFill>
                  <a:srgbClr val="4B556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方案：</a:t>
            </a:r>
            <a:r>
              <a:rPr lang="en-US" sz="1300" b="0" i="0" u="none" strike="noStrike">
                <a:solidFill>
                  <a:srgbClr val="4B556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基于时间阈值自动识别并剔除无效停歇数据，统计口径与官方公式严格对齐，确保数据真实可靠。</a:t>
            </a:r>
            <a:endParaRPr lang="en-US" sz="1300" b="0" i="0" u="none" strike="noStrike">
              <a:solidFill>
                <a:srgbClr val="4B556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572000" y="4826000"/>
            <a:ext cx="7112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572000" y="4826000"/>
            <a:ext cx="762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6000" y="5016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334000" y="4953000"/>
            <a:ext cx="622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03 双重校验筑牢安全防线</a:t>
            </a:r>
            <a:endParaRPr lang="en-US" sz="11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痛点：</a:t>
            </a:r>
            <a:r>
              <a:rPr lang="en-US" sz="1300" b="0" i="0" u="none" strike="noStrike">
                <a:solidFill>
                  <a:srgbClr val="4B556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存在用户与管理员越权操作风险，威胁系统数据安全。</a:t>
            </a:r>
            <a:br>
              <a:rPr lang="en-US" sz="1600" b="0" i="0" u="none" strike="noStrike">
                <a:solidFill>
                  <a:srgbClr val="1F2329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</a:br>
            <a:r>
              <a:rPr lang="en-US" sz="1300" b="1" i="0" u="none" strike="noStrike">
                <a:solidFill>
                  <a:srgbClr val="4B556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方案：</a:t>
            </a:r>
            <a:r>
              <a:rPr lang="en-US" sz="1300" b="0" i="0" u="none" strike="noStrike">
                <a:solidFill>
                  <a:srgbClr val="4B556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实施“会话状态+角色权限”双重校验机制，配合集成测试反复验证，彻底杜绝越权访问漏洞。</a:t>
            </a:r>
            <a:endParaRPr lang="en-US" sz="1300" b="0" i="0" u="none" strike="noStrike">
              <a:solidFill>
                <a:srgbClr val="4B556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总结与展望</a:t>
            </a:r>
            <a:endParaRPr lang="en-US" sz="3200" b="1" i="0" u="none" strike="noStrike">
              <a:solidFill>
                <a:srgbClr val="374151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7573" r="16236" b="123"/>
          <a:stretch>
            <a:fillRect/>
          </a:stretch>
        </p:blipFill>
        <p:spPr>
          <a:xfrm>
            <a:off x="458470" y="1593850"/>
            <a:ext cx="4977130" cy="3337560"/>
          </a:xfrm>
          <a:prstGeom prst="roundRect">
            <a:avLst>
              <a:gd name="adj" fmla="val 594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5715000" y="148971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01 项目成果总结</a:t>
            </a:r>
            <a:endParaRPr lang="en-US" sz="2400" b="1" i="0" u="none" strike="noStrike">
              <a:solidFill>
                <a:srgbClr val="22C55E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715000" y="2095500"/>
            <a:ext cx="5842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500" y="2349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338570" y="212725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任务全面达成</a:t>
            </a:r>
            <a:endParaRPr lang="en-US" sz="1100">
              <a:latin typeface="PingFang SC Regular" panose="020B0400000000000000" charset="-122"/>
              <a:ea typeface="PingFang SC Regular" panose="020B04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两阶段任务全部完成，覆盖基础功能开发与作业量统计分析模块，功能完备可用。</a:t>
            </a:r>
            <a:endParaRPr lang="en-US" sz="1300" b="0" i="0" u="none" strike="noStrike">
              <a:solidFill>
                <a:srgbClr val="6B7280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715000" y="3048000"/>
            <a:ext cx="5842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05500" y="3302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350000" y="307975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全流程数据贯通</a:t>
            </a:r>
            <a:endParaRPr lang="en-US" sz="11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实现43,753个轨迹点从导入、清洗到分析的全链路打通，系统已具备现场演示条件。</a:t>
            </a:r>
            <a:endParaRPr lang="en-US" sz="1300" b="0" i="0" u="none" strike="noStrike">
              <a:solidFill>
                <a:srgbClr val="6B728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715000" y="4000500"/>
            <a:ext cx="5842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5500" y="4254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350000" y="403225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软件工程闭环实践</a:t>
            </a:r>
            <a:endParaRPr lang="en-US" sz="1100">
              <a:latin typeface="PingFang SC Regular" panose="020B0400000000000000" charset="-122"/>
              <a:ea typeface="PingFang SC Regular" panose="020B04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完整覆盖需求分析、架构设计、编码实现、测试验证及文档撰写的标准开发流程。</a:t>
            </a:r>
            <a:endParaRPr lang="en-US" sz="1300" b="0" i="0" u="none" strike="noStrike">
              <a:solidFill>
                <a:srgbClr val="6B7280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90600" y="5702935"/>
            <a:ext cx="186563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02 核心亮点</a:t>
            </a:r>
            <a:endParaRPr lang="en-US" sz="2000" b="1" i="0" u="none" strike="noStrike">
              <a:solidFill>
                <a:srgbClr val="22C55E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234690" y="5524500"/>
            <a:ext cx="28575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87090" y="56515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3717290" y="56134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数据精准可靠</a:t>
            </a:r>
            <a:endParaRPr lang="en-US" sz="1100">
              <a:latin typeface="PingFang SC Regular" panose="020B0400000000000000" charset="-122"/>
              <a:ea typeface="PingFang SC Regular" panose="020B04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PingFang SC Regular" panose="020B0400000000000000" charset="-122"/>
                <a:ea typeface="PingFang SC Regular" panose="020B0400000000000000" charset="-122"/>
                <a:cs typeface="Noto Sans SC"/>
                <a:sym typeface="Noto Sans SC"/>
              </a:rPr>
              <a:t>多重清洗校验机制，确保统计口径一致，分析结果真实可信。</a:t>
            </a:r>
            <a:endParaRPr lang="en-US" sz="1200" b="0" i="0" u="none" strike="noStrike">
              <a:solidFill>
                <a:srgbClr val="6B7280"/>
              </a:solidFill>
              <a:latin typeface="PingFang SC Regular" panose="020B0400000000000000" charset="-122"/>
              <a:ea typeface="PingFang SC Regular" panose="020B0400000000000000" charset="-122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927850" y="5524500"/>
            <a:ext cx="28575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80250" y="56515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410450" y="56134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质量层层保障</a:t>
            </a:r>
            <a:endParaRPr lang="en-US" sz="11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构建“单元+集成+E2E”三层自动化测试体系，筑牢系统稳定性。</a:t>
            </a:r>
            <a:endParaRPr lang="en-US" sz="1200" b="0" i="0" u="none" strike="noStrike">
              <a:solidFill>
                <a:srgbClr val="6B728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334000" y="2286000"/>
            <a:ext cx="1524000" cy="508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2667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汇报完毕，谢谢！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064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恳请各位老师批评指正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4953000"/>
            <a:ext cx="1524000" cy="508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0" y="596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农机作业数据处理与分析软件 · 企业实训项目最终答辩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1570</Words>
  <Application>WPS 文字</Application>
  <PresentationFormat/>
  <Paragraphs>125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方正雅意黑 GB18030L2</vt:lpstr>
      <vt:lpstr>Arial Unicode MS</vt:lpstr>
      <vt:lpstr>Noto Sans SC</vt:lpstr>
      <vt:lpstr>苹方-简</vt:lpstr>
      <vt:lpstr>PingFang SC</vt:lpstr>
      <vt:lpstr>PingFang SC Semibold</vt:lpstr>
      <vt:lpstr>PingFang SC Regular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赵婉婷</cp:lastModifiedBy>
  <cp:revision>6</cp:revision>
  <dcterms:created xsi:type="dcterms:W3CDTF">2026-09-14T01:53:58Z</dcterms:created>
  <dcterms:modified xsi:type="dcterms:W3CDTF">2026-09-14T01:53:58Z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{"Label":"1","ContentProducer":"001191110102MACQD9K64010000","ProduceID":"7685198548723534798","ReservedCode1":"","ContentPropagator":"","PropagateID":"","ReservedCode2":""}</vt:lpwstr>
  </property>
  <property fmtid="{D5CDD505-2E9C-101B-9397-08002B2CF9AE}" pid="3" name="KSOProductBuildVer">
    <vt:lpwstr>2052-12.1.26046.26046</vt:lpwstr>
  </property>
  <property fmtid="{D5CDD505-2E9C-101B-9397-08002B2CF9AE}" pid="4" name="ICV">
    <vt:lpwstr>90561E5050C625117651A76A985B5A9D_42</vt:lpwstr>
  </property>
</Properties>
</file>