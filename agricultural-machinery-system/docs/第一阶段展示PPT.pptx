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image" Target="../media/image18.jpeg"/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066743" y="2431412"/>
            <a:ext cx="11993244" cy="6054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6000"/>
              </a:lnSpc>
            </a:pPr>
            <a:r>
              <a:rPr sz="7700" b="1" kern="0" spc="-51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农机作业数据</a:t>
            </a:r>
            <a:r>
              <a:rPr sz="7700" b="1" kern="0" spc="-50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处理与分析系</a:t>
            </a:r>
            <a:r>
              <a:rPr sz="7700" b="1" kern="0" spc="-31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统</a:t>
            </a:r>
            <a:endParaRPr sz="77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6000"/>
              </a:lnSpc>
              <a:spcBef>
                <a:spcPts val="1820"/>
              </a:spcBef>
            </a:pPr>
            <a:r>
              <a:rPr sz="5100" kern="0" spc="-240" dirty="0">
                <a:solidFill>
                  <a:srgbClr val="406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从原始轨迹到可视化洞察</a:t>
            </a:r>
            <a:r>
              <a:rPr sz="5100" kern="0" spc="-250" dirty="0">
                <a:solidFill>
                  <a:srgbClr val="406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的完整闭环</a:t>
            </a:r>
            <a:endParaRPr sz="51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7500" algn="l" rtl="0" eaLnBrk="0">
              <a:lnSpc>
                <a:spcPct val="94000"/>
              </a:lnSpc>
              <a:spcBef>
                <a:spcPts val="850"/>
              </a:spcBef>
            </a:pP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课程：软件工程管理与实践</a:t>
            </a:r>
            <a:endParaRPr sz="2800" dirty="0"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marL="317500" algn="l" rtl="0" eaLnBrk="0">
              <a:lnSpc>
                <a:spcPct val="96000"/>
              </a:lnSpc>
              <a:spcBef>
                <a:spcPts val="1555"/>
              </a:spcBef>
            </a:pP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汇报人：</a:t>
            </a:r>
            <a:r>
              <a:rPr lang="zh-CN" sz="2800" kern="0" spc="-12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赵婉婷</a:t>
            </a:r>
            <a:endParaRPr sz="2800" dirty="0"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marL="336550" algn="l" rtl="0" eaLnBrk="0">
              <a:lnSpc>
                <a:spcPct val="95000"/>
              </a:lnSpc>
              <a:spcBef>
                <a:spcPts val="1560"/>
              </a:spcBef>
            </a:pPr>
            <a:r>
              <a:rPr sz="2600" kern="0" spc="23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学号：</a:t>
            </a:r>
            <a:r>
              <a:rPr lang="en-US" sz="2600" kern="0" spc="23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2251002077</a:t>
            </a:r>
            <a:endParaRPr sz="2600" dirty="0"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algn="l" rtl="0" eaLnBrk="0">
              <a:lnSpc>
                <a:spcPct val="105000"/>
              </a:lnSpc>
            </a:pPr>
            <a:endParaRPr sz="1200" dirty="0"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marL="368300" algn="l" rtl="0" eaLnBrk="0">
              <a:lnSpc>
                <a:spcPct val="96000"/>
              </a:lnSpc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日期：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2026</a:t>
            </a:r>
            <a:r>
              <a:rPr lang="en-US"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年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6</a:t>
            </a:r>
            <a:r>
              <a:rPr lang="en-US"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月</a:t>
            </a:r>
            <a:r>
              <a:rPr lang="en-US" sz="2800" kern="0" spc="-1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 </a:t>
            </a:r>
            <a:r>
              <a:rPr lang="en-US"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 charset="0"/>
                <a:ea typeface="Heiti SC Light" panose="02000000000000000000" charset="-122"/>
                <a:cs typeface="Times New Roman" panose="02020503050405090304" charset="0"/>
              </a:rPr>
              <a:t>3</a:t>
            </a:r>
            <a:r>
              <a:rPr lang="zh-CN" altLang="en-US" sz="2800" kern="0" spc="-10" dirty="0">
                <a:solidFill>
                  <a:srgbClr val="000000">
                    <a:alpha val="100000"/>
                  </a:srgb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日</a:t>
            </a:r>
            <a:endParaRPr lang="zh-CN" altLang="en-US" sz="2800" kern="0" spc="-10" dirty="0">
              <a:solidFill>
                <a:srgbClr val="000000">
                  <a:alpha val="100000"/>
                </a:srgbClr>
              </a:solidFill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350" y="8934450"/>
            <a:ext cx="2228850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820226" y="831277"/>
            <a:ext cx="10867390" cy="4721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2000"/>
              </a:lnSpc>
            </a:pPr>
            <a:r>
              <a:rPr sz="4300" b="1" kern="0" spc="-2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突破原始数据的静默</a:t>
            </a:r>
            <a:r>
              <a:rPr sz="4300" b="1" kern="0" spc="-2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，构建全链路交互决策平台</a:t>
            </a:r>
            <a:endParaRPr sz="4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19980" algn="l" rtl="0" eaLnBrk="0">
              <a:lnSpc>
                <a:spcPct val="96000"/>
              </a:lnSpc>
              <a:spcBef>
                <a:spcPts val="51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耕深数据</a:t>
            </a:r>
            <a:endParaRPr sz="1700" dirty="0">
              <a:latin typeface="黑体"/>
              <a:ea typeface="黑体"/>
              <a:cs typeface="黑体"/>
            </a:endParaRPr>
          </a:p>
          <a:p>
            <a:pPr marL="862330" algn="l" rtl="0" eaLnBrk="0">
              <a:lnSpc>
                <a:spcPct val="98000"/>
              </a:lnSpc>
              <a:spcBef>
                <a:spcPts val="505"/>
              </a:spcBef>
            </a:pP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GNSS</a:t>
            </a: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定位</a:t>
            </a:r>
            <a:endParaRPr sz="19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7080" algn="l" rtl="0" eaLnBrk="0">
              <a:lnSpc>
                <a:spcPts val="3215"/>
              </a:lnSpc>
              <a:spcBef>
                <a:spcPts val="730"/>
              </a:spcBef>
            </a:pPr>
            <a:r>
              <a:rPr sz="3600" kern="0" spc="-50" baseline="6000" dirty="0">
                <a:solidFill>
                  <a:srgbClr val="A03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缺乏可视化与分析手段</a:t>
            </a:r>
            <a:r>
              <a:rPr sz="2300" kern="0" spc="10" dirty="0">
                <a:solidFill>
                  <a:srgbClr val="A03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        </a:t>
            </a:r>
            <a:r>
              <a:rPr sz="3700" kern="0" spc="-50" baseline="-600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无缝转化</a:t>
            </a:r>
            <a:endParaRPr sz="3700" baseline="-6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52830" algn="l" rtl="0" eaLnBrk="0">
              <a:lnSpc>
                <a:spcPct val="84000"/>
              </a:lnSpc>
              <a:spcBef>
                <a:spcPts val="52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耕深数据</a:t>
            </a:r>
            <a:endParaRPr sz="1700" dirty="0">
              <a:latin typeface="黑体"/>
              <a:ea typeface="黑体"/>
              <a:cs typeface="黑体"/>
            </a:endParaRPr>
          </a:p>
          <a:p>
            <a:pPr marL="5027930" algn="l" rtl="0" eaLnBrk="0">
              <a:lnSpc>
                <a:spcPct val="95000"/>
              </a:lnSpc>
              <a:spcBef>
                <a:spcPts val="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速度指标</a:t>
            </a:r>
            <a:endParaRPr sz="1700" dirty="0">
              <a:latin typeface="黑体"/>
              <a:ea typeface="黑体"/>
              <a:cs typeface="黑体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301784" y="7186750"/>
            <a:ext cx="6482079" cy="142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400" b="1" kern="0" spc="-10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全链路数据管控</a:t>
            </a:r>
            <a:endParaRPr sz="3400" dirty="0">
              <a:latin typeface="黑体"/>
              <a:ea typeface="黑体"/>
              <a:cs typeface="黑体"/>
            </a:endParaRPr>
          </a:p>
          <a:p>
            <a:pPr algn="r" rtl="0" eaLnBrk="0">
              <a:lnSpc>
                <a:spcPct val="86000"/>
              </a:lnSpc>
              <a:spcBef>
                <a:spcPts val="1430"/>
              </a:spcBef>
            </a:pP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Web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端实现轨迹数据的导入、存储、地图</a:t>
            </a:r>
            <a:r>
              <a:rPr sz="23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展示、查询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3250"/>
              </a:lnSpc>
            </a:pPr>
            <a:r>
              <a:rPr sz="2200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与多维统计分析。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9518622" y="7185435"/>
            <a:ext cx="6445884" cy="1420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400" b="1" kern="0" spc="-11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双重安全架构</a:t>
            </a:r>
            <a:endParaRPr sz="3400" dirty="0">
              <a:latin typeface="黑体"/>
              <a:ea typeface="黑体"/>
              <a:cs typeface="黑体"/>
            </a:endParaRPr>
          </a:p>
          <a:p>
            <a:pPr algn="r" rtl="0" eaLnBrk="0">
              <a:lnSpc>
                <a:spcPct val="86000"/>
              </a:lnSpc>
              <a:spcBef>
                <a:spcPts val="1450"/>
              </a:spcBef>
            </a:pPr>
            <a:r>
              <a:rPr sz="23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基于普通用户与管理员两种独立角色的</a:t>
            </a:r>
            <a:r>
              <a:rPr sz="23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访问权限隔离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3200"/>
              </a:lnSpc>
            </a:pPr>
            <a:r>
              <a:rPr sz="2300" kern="0" spc="-2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体系，保障底层数据安全。</a:t>
            </a:r>
            <a:endParaRPr sz="2300" dirty="0"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508272" y="5602440"/>
            <a:ext cx="14861539" cy="4071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64795" algn="l" rtl="0" eaLnBrk="0">
              <a:lnSpc>
                <a:spcPct val="96000"/>
              </a:lnSpc>
            </a:pP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登录网关</a:t>
            </a:r>
            <a:endParaRPr sz="28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8000"/>
              </a:lnSpc>
              <a:spcBef>
                <a:spcPts val="395"/>
              </a:spcBef>
            </a:pPr>
            <a:r>
              <a:rPr sz="23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(严格角色验证)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5452110" algn="l" rtl="0" eaLnBrk="0">
              <a:lnSpc>
                <a:spcPct val="98000"/>
              </a:lnSpc>
              <a:spcBef>
                <a:spcPts val="1310"/>
              </a:spcBef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多维分析：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核心作业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量指标实时计算/</a:t>
            </a:r>
            <a:r>
              <a:rPr sz="2300" kern="0" spc="-80" dirty="0">
                <a:solidFill>
                  <a:srgbClr val="A07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交互式多维图表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渲染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64795" algn="l" rtl="0" eaLnBrk="0">
              <a:lnSpc>
                <a:spcPct val="95000"/>
              </a:lnSpc>
              <a:spcBef>
                <a:spcPts val="845"/>
              </a:spcBef>
            </a:pPr>
            <a:r>
              <a:rPr sz="28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凭证管理</a:t>
            </a:r>
            <a:endParaRPr sz="28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845"/>
              </a:lnSpc>
              <a:spcBef>
                <a:spcPts val="570"/>
              </a:spcBef>
            </a:pPr>
            <a:r>
              <a:rPr sz="3600" kern="0" spc="-80" baseline="100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(安全修改密码)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     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 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后台管控：批量数据导入与清除/</a:t>
            </a:r>
            <a:r>
              <a:rPr sz="2300" kern="0" spc="-80" dirty="0">
                <a:solidFill>
                  <a:srgbClr val="A07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全局</a:t>
            </a:r>
            <a:r>
              <a:rPr sz="2300" kern="0" spc="-90" dirty="0">
                <a:solidFill>
                  <a:srgbClr val="A07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用户权限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与名单调度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005451" y="674100"/>
            <a:ext cx="12146915" cy="2285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700" b="1" kern="0" spc="-90" dirty="0">
                <a:solidFill>
                  <a:srgbClr val="405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支撑全生命周期管理的双擎</a:t>
            </a:r>
            <a:r>
              <a:rPr sz="4700" b="1" kern="0" spc="-100" dirty="0">
                <a:solidFill>
                  <a:srgbClr val="405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功能模块</a:t>
            </a:r>
            <a:endParaRPr sz="47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3000" b="1" kern="0" spc="-8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用户认证网关</a:t>
            </a:r>
            <a:r>
              <a:rPr sz="3000" kern="0" spc="-8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               </a:t>
            </a:r>
            <a:r>
              <a:rPr sz="3000" kern="0" spc="-9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</a:t>
            </a:r>
            <a:r>
              <a:rPr sz="3000" b="1" kern="0" spc="-9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轨迹数据管理核心</a:t>
            </a:r>
            <a:endParaRPr sz="3000" dirty="0">
              <a:latin typeface="黑体"/>
              <a:ea typeface="黑体"/>
              <a:cs typeface="黑体"/>
            </a:endParaRP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2520971" y="3619907"/>
          <a:ext cx="12938125" cy="1911985"/>
        </p:xfrm>
        <a:graphic>
          <a:graphicData uri="http://schemas.openxmlformats.org/drawingml/2006/table">
            <a:tbl>
              <a:tblPr/>
              <a:tblGrid>
                <a:gridCol w="3688079"/>
                <a:gridCol w="9250044"/>
              </a:tblGrid>
              <a:tr h="1275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5209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28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注册引擎</a:t>
                      </a:r>
                      <a:endParaRPr sz="2800" dirty="0">
                        <a:latin typeface="黑体"/>
                        <a:ea typeface="黑体"/>
                        <a:cs typeface="黑体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555"/>
                        </a:spcBef>
                      </a:pPr>
                      <a:r>
                        <a:rPr sz="23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(独立角色选择)</a:t>
                      </a:r>
                      <a:endParaRPr sz="2300" dirty="0"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751330" algn="l" rtl="0" eaLnBrk="0">
                        <a:lnSpc>
                          <a:spcPct val="86000"/>
                        </a:lnSpc>
                      </a:pP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空间展示：</a:t>
                      </a:r>
                      <a:r>
                        <a:rPr sz="2300" kern="0" spc="-50" dirty="0">
                          <a:solidFill>
                            <a:srgbClr val="A0702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动态轨迹可视化</a:t>
                      </a:r>
                      <a:r>
                        <a:rPr sz="2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/矢量与</a:t>
                      </a:r>
                      <a:r>
                        <a:rPr sz="2300" kern="0" spc="-50" dirty="0">
                          <a:solidFill>
                            <a:srgbClr val="C0802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遥感底图</a:t>
                      </a:r>
                      <a:r>
                        <a:rPr sz="2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无缝切换/</a:t>
                      </a:r>
                      <a:endParaRPr sz="2300" dirty="0">
                        <a:latin typeface="黑体"/>
                        <a:ea typeface="黑体"/>
                        <a:cs typeface="黑体"/>
                      </a:endParaRPr>
                    </a:p>
                    <a:p>
                      <a:pPr marL="3137535" algn="l" rtl="0" eaLnBrk="0">
                        <a:lnSpc>
                          <a:spcPts val="3525"/>
                        </a:lnSpc>
                      </a:pPr>
                      <a:r>
                        <a:rPr sz="2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缩放漫游与</a:t>
                      </a:r>
                      <a:r>
                        <a:rPr sz="2300" kern="0" spc="-120" dirty="0">
                          <a:solidFill>
                            <a:srgbClr val="C0802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精确测距</a:t>
                      </a:r>
                      <a:r>
                        <a:rPr sz="2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工具</a:t>
                      </a:r>
                      <a:endParaRPr sz="2300" dirty="0"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6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精准检素：基于地块编号的模糊搜索/</a:t>
                      </a:r>
                      <a:r>
                        <a:rPr sz="2300" kern="0" spc="-70" dirty="0">
                          <a:solidFill>
                            <a:srgbClr val="C0802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属性数据实时穿透</a:t>
                      </a:r>
                      <a:r>
                        <a:rPr sz="2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/>
                          <a:ea typeface="黑体"/>
                          <a:cs typeface="黑体"/>
                        </a:rPr>
                        <a:t>展示</a:t>
                      </a:r>
                      <a:endParaRPr sz="2300" dirty="0"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069388" y="933426"/>
            <a:ext cx="12705080" cy="1970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100" b="1" kern="0" spc="-190" dirty="0">
                <a:solidFill>
                  <a:srgbClr val="506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基于</a:t>
            </a:r>
            <a:r>
              <a:rPr sz="5100" kern="0" spc="-1250" dirty="0">
                <a:solidFill>
                  <a:srgbClr val="506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5100" b="1" kern="0" spc="-190" dirty="0">
                <a:solidFill>
                  <a:srgbClr val="50608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Django</a:t>
            </a:r>
            <a:r>
              <a:rPr sz="5100" b="1" kern="0" spc="370" dirty="0">
                <a:solidFill>
                  <a:srgbClr val="50608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5100" b="1" kern="0" spc="-190" dirty="0">
                <a:solidFill>
                  <a:srgbClr val="50608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MTV </a:t>
            </a:r>
            <a:r>
              <a:rPr sz="5100" b="1" kern="0" spc="-190" dirty="0">
                <a:solidFill>
                  <a:srgbClr val="50608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模式的高性能四层技术底座</a:t>
            </a:r>
            <a:endParaRPr sz="51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1000"/>
              </a:lnSpc>
              <a:spcBef>
                <a:spcPts val="0"/>
              </a:spcBef>
            </a:pP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表现层</a:t>
            </a:r>
            <a:r>
              <a:rPr sz="2600" kern="0" spc="-3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Templa</a:t>
            </a:r>
            <a:r>
              <a:rPr sz="2600" b="1" kern="0" spc="-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 -</a:t>
            </a:r>
            <a:r>
              <a:rPr sz="2600" b="1" kern="0" spc="-2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600" b="1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前端交互)</a:t>
            </a:r>
            <a:endParaRPr sz="2600" dirty="0">
              <a:latin typeface="黑体"/>
              <a:ea typeface="黑体"/>
              <a:cs typeface="黑体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9491340" y="4241505"/>
            <a:ext cx="5931534" cy="406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业务逻辑层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View</a:t>
            </a:r>
            <a:r>
              <a:rPr sz="2500" b="1" kern="0" spc="4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后端路由与控制)</a:t>
            </a:r>
            <a:endParaRPr sz="25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ts val="2655"/>
              </a:lnSpc>
              <a:spcBef>
                <a:spcPts val="580"/>
              </a:spcBef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核心框架：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Djang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6.0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运行环境：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Python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3.13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  <a:spcBef>
                <a:spcPts val="780"/>
              </a:spcBef>
            </a:pP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数据处理层</a:t>
            </a:r>
            <a:r>
              <a:rPr sz="2600" kern="0" spc="-3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r>
              <a:rPr sz="2600" b="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Engine-</a:t>
            </a:r>
            <a:r>
              <a:rPr sz="26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清洗与计算)</a:t>
            </a:r>
            <a:endParaRPr sz="26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" algn="l" rtl="0" eaLnBrk="0">
              <a:lnSpc>
                <a:spcPct val="98000"/>
              </a:lnSpc>
              <a:spcBef>
                <a:spcPts val="570"/>
              </a:spcBef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计算引擎：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Pandas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790"/>
              </a:spcBef>
            </a:pP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持久层</a:t>
            </a:r>
            <a:r>
              <a:rPr sz="2600" kern="0" spc="-2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600" kern="0" spc="-7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Model- </a:t>
            </a:r>
            <a:r>
              <a:rPr sz="2600" b="1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关系</a:t>
            </a:r>
            <a:r>
              <a:rPr sz="2600" b="1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型存储)</a:t>
            </a:r>
            <a:endParaRPr sz="26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" algn="l" rtl="0" eaLnBrk="0">
              <a:lnSpc>
                <a:spcPct val="98000"/>
              </a:lnSpc>
              <a:spcBef>
                <a:spcPts val="5"/>
              </a:spcBef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本地化数据库：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SQLite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4223996" y="3127969"/>
            <a:ext cx="1229360" cy="659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5715" algn="l" rtl="0" eaLnBrk="0">
              <a:lnSpc>
                <a:spcPct val="107000"/>
              </a:lnSpc>
            </a:pP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动态图表：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Chart.js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1912551" y="3152429"/>
            <a:ext cx="1204594" cy="605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400" indent="-12700" algn="l" rtl="0" eaLnBrk="0">
              <a:lnSpc>
                <a:spcPct val="102000"/>
              </a:lnSpc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空间引擎：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Leaflet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9613863" y="3154162"/>
            <a:ext cx="1040130" cy="608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02000"/>
              </a:lnSpc>
            </a:pP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UI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框架：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Bootstrap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11017208" y="3428927"/>
            <a:ext cx="149860" cy="354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590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085790" y="5836101"/>
            <a:ext cx="11057255" cy="2610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交互式查询引擎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5000"/>
              </a:lnSpc>
              <a:spcBef>
                <a:spcPts val="500"/>
              </a:spcBef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输入地块编号或下拉选</a:t>
            </a:r>
            <a:endParaRPr sz="17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325"/>
              </a:lnSpc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择，一键下钻至该地块</a:t>
            </a:r>
            <a:endParaRPr sz="17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325"/>
              </a:lnSpc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的统计概览与底层详细</a:t>
            </a:r>
            <a:endParaRPr sz="17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410"/>
              </a:lnSpc>
            </a:pPr>
            <a:r>
              <a:rPr sz="1600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数据。</a:t>
            </a:r>
            <a:endParaRPr sz="1600" dirty="0">
              <a:latin typeface="黑体"/>
              <a:ea typeface="黑体"/>
              <a:cs typeface="黑体"/>
            </a:endParaRPr>
          </a:p>
          <a:p>
            <a:pPr marL="8931910" algn="l" rtl="0" eaLnBrk="0">
              <a:lnSpc>
                <a:spcPct val="98000"/>
              </a:lnSpc>
              <a:spcBef>
                <a:spcPts val="915"/>
              </a:spcBef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全局地理视图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8928100" algn="l" rtl="0" eaLnBrk="0">
              <a:lnSpc>
                <a:spcPct val="116000"/>
              </a:lnSpc>
              <a:spcBef>
                <a:spcPts val="5"/>
              </a:spcBef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首页无缝集成8个地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块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的完整轨迹网络。</a:t>
            </a:r>
            <a:endParaRPr sz="1700" dirty="0">
              <a:latin typeface="黑体"/>
              <a:ea typeface="黑体"/>
              <a:cs typeface="黑体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4236752" y="3607208"/>
            <a:ext cx="2096135" cy="3811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动态底图切换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16000"/>
              </a:lnSpc>
              <a:spcBef>
                <a:spcPts val="125"/>
              </a:spcBef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单犍切换标准矢量地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图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与高精度逼感影像。</a:t>
            </a:r>
            <a:endParaRPr sz="17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98000"/>
              </a:lnSpc>
              <a:spcBef>
                <a:spcPts val="690"/>
              </a:spcBef>
            </a:pP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空间工具箱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18000"/>
              </a:lnSpc>
              <a:spcBef>
                <a:spcPts val="10"/>
              </a:spcBef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内置精确测距工具，辅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助作业面积复核。</a:t>
            </a:r>
            <a:endParaRPr sz="1700" dirty="0">
              <a:latin typeface="黑体"/>
              <a:ea typeface="黑体"/>
              <a:cs typeface="黑体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891150" y="951127"/>
            <a:ext cx="11762740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700" b="1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核心场景一：多维空间可视化与精准属性穿透</a:t>
            </a:r>
            <a:endParaRPr sz="4700" dirty="0"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7188248" y="4529350"/>
            <a:ext cx="3086750" cy="2973737"/>
            <a:chOff x="0" y="0"/>
            <a:chExt cx="3086750" cy="2973737"/>
          </a:xfrm>
        </p:grpSpPr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514295" y="296633"/>
              <a:ext cx="2089160" cy="2349544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-12700" y="-12700"/>
              <a:ext cx="1788795" cy="30308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r" rtl="0" eaLnBrk="0">
                <a:lnSpc>
                  <a:spcPts val="2215"/>
                </a:lnSpc>
              </a:pPr>
              <a:r>
                <a:rPr sz="1800" kern="0" spc="-9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效率</a:t>
              </a:r>
              <a:endParaRPr sz="18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ct val="99000"/>
                </a:lnSpc>
                <a:spcBef>
                  <a:spcPts val="580"/>
                </a:spcBef>
              </a:pPr>
              <a:r>
                <a:rPr sz="1900" kern="0" spc="-9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时间</a:t>
              </a:r>
              <a:endParaRPr sz="19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5240" algn="l" rtl="0" eaLnBrk="0">
                <a:lnSpc>
                  <a:spcPct val="96000"/>
                </a:lnSpc>
                <a:spcBef>
                  <a:spcPts val="515"/>
                </a:spcBef>
              </a:pPr>
              <a:r>
                <a:rPr sz="1700" b="1" kern="0" spc="-4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精度</a:t>
              </a:r>
              <a:endParaRPr sz="17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4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r" rtl="0" eaLnBrk="0">
                <a:lnSpc>
                  <a:spcPts val="2230"/>
                </a:lnSpc>
                <a:spcBef>
                  <a:spcPts val="0"/>
                </a:spcBef>
              </a:pPr>
              <a:r>
                <a:rPr sz="1800" b="1" kern="0" spc="-13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覆</a:t>
              </a:r>
              <a:r>
                <a:rPr sz="1800" kern="0" spc="-7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盖</a:t>
              </a:r>
              <a:endParaRPr sz="1800" dirty="0">
                <a:latin typeface="黑体"/>
                <a:ea typeface="黑体"/>
                <a:cs typeface="黑体"/>
              </a:endParaRPr>
            </a:p>
          </p:txBody>
        </p:sp>
      </p:grpSp>
      <p:sp>
        <p:nvSpPr>
          <p:cNvPr id="56" name="textbox 56"/>
          <p:cNvSpPr/>
          <p:nvPr/>
        </p:nvSpPr>
        <p:spPr>
          <a:xfrm>
            <a:off x="916456" y="900311"/>
            <a:ext cx="12325984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6000"/>
              </a:lnSpc>
            </a:pPr>
            <a:r>
              <a:rPr sz="4700" b="1" kern="0" spc="-100" dirty="0">
                <a:solidFill>
                  <a:srgbClr val="3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核心场景二：实时驱动的作</a:t>
            </a:r>
            <a:r>
              <a:rPr sz="4700" b="1" kern="0" spc="-110" dirty="0">
                <a:solidFill>
                  <a:srgbClr val="3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业量多维可视化洞察</a:t>
            </a:r>
            <a:endParaRPr sz="4700" dirty="0">
              <a:latin typeface="黑体"/>
              <a:ea typeface="黑体"/>
              <a:cs typeface="黑体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38022" y="4559320"/>
            <a:ext cx="2641725" cy="2641567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206544" y="7698358"/>
            <a:ext cx="4358004" cy="1123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sz="26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柱状图(横向比对)</a:t>
            </a:r>
            <a:endParaRPr sz="2600" dirty="0">
              <a:latin typeface="黑体"/>
              <a:ea typeface="黑体"/>
              <a:cs typeface="黑体"/>
            </a:endParaRPr>
          </a:p>
          <a:p>
            <a:pPr marL="12700" indent="18415" algn="l" rtl="0" eaLnBrk="0">
              <a:lnSpc>
                <a:spcPct val="112000"/>
              </a:lnSpc>
              <a:spcBef>
                <a:spcPts val="535"/>
              </a:spcBef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各地块核心指标绝对值对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比，直观定位异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常作业地块。</a:t>
            </a:r>
            <a:endParaRPr sz="1900" dirty="0">
              <a:latin typeface="黑体"/>
              <a:ea typeface="黑体"/>
              <a:cs typeface="黑体"/>
            </a:endParaRPr>
          </a:p>
        </p:txBody>
      </p:sp>
      <p:sp>
        <p:nvSpPr>
          <p:cNvPr id="62" name="rect 62"/>
          <p:cNvSpPr/>
          <p:nvPr/>
        </p:nvSpPr>
        <p:spPr>
          <a:xfrm>
            <a:off x="1949533" y="0"/>
            <a:ext cx="4228998" cy="927079"/>
          </a:xfrm>
          <a:prstGeom prst="rect">
            <a:avLst/>
          </a:prstGeom>
          <a:solidFill>
            <a:srgbClr val="F3F8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376708" y="6203972"/>
            <a:ext cx="1098491" cy="3447994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13163602" y="2466007"/>
            <a:ext cx="2790189" cy="1246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205"/>
              </a:lnSpc>
            </a:pPr>
            <a:r>
              <a:rPr sz="23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田间平均速度</a:t>
            </a:r>
            <a:r>
              <a:rPr sz="23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300" kern="0" spc="-4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km/h)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53465" algn="l" rtl="0" eaLnBrk="0">
              <a:lnSpc>
                <a:spcPts val="5790"/>
              </a:lnSpc>
              <a:spcBef>
                <a:spcPts val="615"/>
              </a:spcBef>
            </a:pPr>
            <a:r>
              <a:rPr sz="42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</a:t>
            </a:r>
            <a:r>
              <a:rPr sz="4200" b="1" kern="0" spc="5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2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42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1899969" y="7671122"/>
            <a:ext cx="4333875" cy="829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95" algn="l" rtl="0" eaLnBrk="0">
              <a:lnSpc>
                <a:spcPct val="95000"/>
              </a:lnSpc>
            </a:pPr>
            <a:r>
              <a:rPr sz="28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饼状图(结构分析)</a:t>
            </a:r>
            <a:endParaRPr sz="28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450"/>
              </a:lnSpc>
              <a:spcBef>
                <a:spcPts val="5"/>
              </a:spcBef>
            </a:pP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整体视域下的各地块作业面积占比结构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000" dirty="0">
              <a:latin typeface="黑体"/>
              <a:ea typeface="黑体"/>
              <a:cs typeface="黑体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6583318" y="7697367"/>
            <a:ext cx="3815079" cy="793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6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雷达图(综合评估)</a:t>
            </a:r>
            <a:endParaRPr sz="26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4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970" algn="l" rtl="0" eaLnBrk="0">
              <a:lnSpc>
                <a:spcPct val="98000"/>
              </a:lnSpc>
              <a:spcBef>
                <a:spcPts val="5"/>
              </a:spcBef>
            </a:pP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多维度性能指标的均衡性综合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研判。</a:t>
            </a:r>
            <a:endParaRPr sz="1900" dirty="0">
              <a:latin typeface="黑体"/>
              <a:ea typeface="黑体"/>
              <a:cs typeface="黑体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5143532" y="2459666"/>
            <a:ext cx="2374264" cy="1214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205"/>
              </a:lnSpc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作业总行程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km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</a:pPr>
            <a:r>
              <a:rPr sz="47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3,892.1</a:t>
            </a:r>
            <a:endParaRPr sz="4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1155691" y="2420042"/>
            <a:ext cx="2144395" cy="1193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545"/>
              </a:lnSpc>
            </a:pP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作业总时长</a:t>
            </a:r>
            <a:r>
              <a:rPr sz="2500" kern="0" spc="-3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h)</a:t>
            </a:r>
            <a:endParaRPr sz="2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ts val="5650"/>
              </a:lnSpc>
            </a:pPr>
            <a:r>
              <a:rPr sz="42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1,245.5</a:t>
            </a:r>
            <a:endParaRPr sz="42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9137663" y="2544725"/>
            <a:ext cx="2084070" cy="1111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作业面积(亩)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2000"/>
              </a:lnSpc>
            </a:pPr>
            <a:r>
              <a:rPr sz="42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8,450</a:t>
            </a:r>
            <a:endParaRPr sz="42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9817100" y="6537671"/>
            <a:ext cx="46926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8000"/>
              </a:lnSpc>
            </a:pPr>
            <a:r>
              <a:rPr sz="1900" kern="0" spc="-2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能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耗</a:t>
            </a:r>
            <a:endParaRPr sz="1900" dirty="0">
              <a:latin typeface="黑体"/>
              <a:ea typeface="黑体"/>
              <a:cs typeface="黑体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817100" y="5209279"/>
            <a:ext cx="471169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质量</a:t>
            </a:r>
            <a:endParaRPr sz="1700" dirty="0"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882286" y="2429288"/>
            <a:ext cx="6509384" cy="6344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400" b="1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极简数据注入</a:t>
            </a:r>
            <a:r>
              <a:rPr sz="3400" kern="0" spc="-4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400" b="1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</a:t>
            </a:r>
            <a:r>
              <a:rPr sz="3400" kern="0" spc="-9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400" b="1" kern="0" spc="-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CSV</a:t>
            </a:r>
            <a:r>
              <a:rPr sz="3400" b="1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解析)</a:t>
            </a:r>
            <a:endParaRPr sz="34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3500" algn="l" rtl="0" eaLnBrk="0">
              <a:lnSpc>
                <a:spcPct val="95000"/>
              </a:lnSpc>
              <a:spcBef>
                <a:spcPts val="815"/>
              </a:spcBef>
            </a:pP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支持</a:t>
            </a: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CSV</a:t>
            </a: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文件拖拽或点击上</a:t>
            </a:r>
            <a:r>
              <a:rPr sz="2700" kern="0" spc="-2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传，</a:t>
            </a:r>
            <a:endParaRPr sz="2700" dirty="0">
              <a:latin typeface="黑体"/>
              <a:ea typeface="黑体"/>
              <a:cs typeface="黑体"/>
            </a:endParaRPr>
          </a:p>
          <a:p>
            <a:pPr marL="2197100" algn="l" rtl="0" eaLnBrk="0">
              <a:lnSpc>
                <a:spcPts val="3190"/>
              </a:lnSpc>
              <a:spcBef>
                <a:spcPts val="655"/>
              </a:spcBef>
            </a:pPr>
            <a:r>
              <a:rPr sz="2600" kern="0" spc="-2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实现无缝数据接入。</a:t>
            </a:r>
            <a:endParaRPr sz="26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37515" algn="l" rtl="0" eaLnBrk="0">
              <a:lnSpc>
                <a:spcPct val="97000"/>
              </a:lnSpc>
              <a:spcBef>
                <a:spcPts val="1025"/>
              </a:spcBef>
            </a:pPr>
            <a:r>
              <a:rPr sz="3400" b="1" kern="0" spc="-170" dirty="0">
                <a:solidFill>
                  <a:srgbClr val="A07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实测吞吐战绩</a:t>
            </a:r>
            <a:endParaRPr sz="3400" dirty="0">
              <a:latin typeface="黑体"/>
              <a:ea typeface="黑体"/>
              <a:cs typeface="黑体"/>
            </a:endParaRPr>
          </a:p>
          <a:p>
            <a:pPr algn="r" rtl="0" eaLnBrk="0">
              <a:lnSpc>
                <a:spcPct val="85000"/>
              </a:lnSpc>
              <a:spcBef>
                <a:spcPts val="920"/>
              </a:spcBef>
            </a:pPr>
            <a:r>
              <a:rPr sz="30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已成功无损解析并导入8个地块，共计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482600" algn="l" rtl="0" eaLnBrk="0">
              <a:lnSpc>
                <a:spcPts val="5265"/>
              </a:lnSpc>
            </a:pPr>
            <a:r>
              <a:rPr sz="4100" b="1" kern="0" spc="-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43,753  </a:t>
            </a:r>
            <a:r>
              <a:rPr sz="2900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个高频轨迹采样点。</a:t>
            </a:r>
            <a:endParaRPr sz="2900" dirty="0">
              <a:latin typeface="黑体"/>
              <a:ea typeface="黑体"/>
              <a:cs typeface="黑体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346682" y="2433874"/>
            <a:ext cx="2833370" cy="415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7000"/>
              </a:lnSpc>
            </a:pPr>
            <a:r>
              <a:rPr sz="3400" b="1" kern="0" spc="-2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人员与权</a:t>
            </a:r>
            <a:r>
              <a:rPr sz="3400" b="1" kern="0" spc="-2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限调</a:t>
            </a:r>
            <a:r>
              <a:rPr sz="3400" b="1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度</a:t>
            </a:r>
            <a:endParaRPr sz="34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93800" algn="l" rtl="0" eaLnBrk="0">
              <a:lnSpc>
                <a:spcPct val="96000"/>
              </a:lnSpc>
              <a:spcBef>
                <a:spcPts val="905"/>
              </a:spcBef>
              <a:tabLst>
                <a:tab pos="1397000" algn="l"/>
              </a:tabLst>
            </a:pPr>
            <a:r>
              <a:rPr lang="en-US" sz="3000" dirty="0">
                <a:latin typeface="黑体"/>
                <a:ea typeface="黑体"/>
                <a:cs typeface="黑体"/>
              </a:rPr>
              <a:t>admins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93800" algn="l" rtl="0" eaLnBrk="0">
              <a:lnSpc>
                <a:spcPct val="96000"/>
              </a:lnSpc>
              <a:spcBef>
                <a:spcPts val="905"/>
              </a:spcBef>
              <a:tabLst>
                <a:tab pos="1397000" algn="l"/>
              </a:tabLst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	</a:t>
            </a:r>
            <a:r>
              <a:rPr lang="en-US" sz="30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user1</a:t>
            </a:r>
            <a:endParaRPr sz="3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93800" algn="l" rtl="0" eaLnBrk="0">
              <a:lnSpc>
                <a:spcPct val="96000"/>
              </a:lnSpc>
              <a:spcBef>
                <a:spcPts val="5"/>
              </a:spcBef>
              <a:tabLst>
                <a:tab pos="1397000" algn="l"/>
              </a:tabLst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	</a:t>
            </a:r>
            <a:r>
              <a:rPr lang="en-US" sz="30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user</a:t>
            </a:r>
            <a:endParaRPr lang="en-US" sz="3000" kern="0" spc="0" dirty="0">
              <a:solidFill>
                <a:srgbClr val="000000">
                  <a:alpha val="100000"/>
                </a:srgbClr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6365" y="5746724"/>
            <a:ext cx="774675" cy="774728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6365" y="4610136"/>
            <a:ext cx="774675" cy="768291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766365" y="3479792"/>
            <a:ext cx="774675" cy="768388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9398000" y="7526655"/>
            <a:ext cx="7393305" cy="1478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960"/>
              </a:lnSpc>
            </a:pPr>
            <a:r>
              <a:rPr sz="2800" kern="0" spc="-140" dirty="0">
                <a:solidFill>
                  <a:srgbClr val="204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 </a:t>
            </a:r>
            <a:r>
              <a:rPr sz="2800" kern="0" spc="-1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全局可视的用户列表与精准的</a:t>
            </a:r>
            <a:r>
              <a:rPr sz="2800" kern="0" spc="-1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角色标签识别。</a:t>
            </a:r>
            <a:endParaRPr sz="24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0000"/>
              </a:lnSpc>
            </a:pP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29565" indent="-311150" algn="l" rtl="0" eaLnBrk="0">
              <a:lnSpc>
                <a:spcPct val="107000"/>
              </a:lnSpc>
              <a:spcBef>
                <a:spcPts val="0"/>
              </a:spcBef>
            </a:pPr>
            <a:r>
              <a:rPr sz="2600" kern="0" spc="-240" dirty="0">
                <a:solidFill>
                  <a:srgbClr val="204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●</a:t>
            </a:r>
            <a:r>
              <a:rPr sz="2600" kern="0" spc="-390" dirty="0">
                <a:solidFill>
                  <a:srgbClr val="204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600" kern="0" spc="-2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一键</a:t>
            </a:r>
            <a:r>
              <a:rPr sz="2600" kern="0" spc="-2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化的账户状态控制</a:t>
            </a:r>
            <a:r>
              <a:rPr lang="en-US" sz="2600" kern="0" spc="-2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lang="en-US" sz="2600" kern="0" spc="-230" dirty="0">
              <a:solidFill>
                <a:srgbClr val="000000">
                  <a:alpha val="100000"/>
                </a:srgbClr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97463" y="951127"/>
            <a:ext cx="11816080" cy="716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700" b="1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核心场景三：高效的数据吞吐与全局权限调度</a:t>
            </a:r>
            <a:endParaRPr sz="4700" dirty="0">
              <a:latin typeface="黑体"/>
              <a:ea typeface="黑体"/>
              <a:cs typeface="黑体"/>
            </a:endParaRPr>
          </a:p>
        </p:txBody>
      </p:sp>
      <p:sp>
        <p:nvSpPr>
          <p:cNvPr id="100" name="rect 100"/>
          <p:cNvSpPr/>
          <p:nvPr/>
        </p:nvSpPr>
        <p:spPr>
          <a:xfrm>
            <a:off x="1943067" y="0"/>
            <a:ext cx="4241755" cy="882603"/>
          </a:xfrm>
          <a:prstGeom prst="rect">
            <a:avLst/>
          </a:prstGeom>
          <a:solidFill>
            <a:srgbClr val="F3F8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643169" y="5778520"/>
            <a:ext cx="1524010" cy="742931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643169" y="4641835"/>
            <a:ext cx="1524010" cy="736591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12579347" y="3644920"/>
            <a:ext cx="1124005" cy="444471"/>
            <a:chOff x="0" y="0"/>
            <a:chExt cx="1124005" cy="444471"/>
          </a:xfrm>
        </p:grpSpPr>
        <p:pic>
          <p:nvPicPr>
            <p:cNvPr id="106" name="picture 10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4005" cy="444471"/>
            </a:xfrm>
            <a:prstGeom prst="rect">
              <a:avLst/>
            </a:prstGeom>
          </p:spPr>
        </p:pic>
        <p:sp>
          <p:nvSpPr>
            <p:cNvPr id="108" name="textbox 108"/>
            <p:cNvSpPr/>
            <p:nvPr/>
          </p:nvSpPr>
          <p:spPr>
            <a:xfrm>
              <a:off x="-12700" y="-12700"/>
              <a:ext cx="1149985" cy="536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39700" algn="l" rtl="0" eaLnBrk="0">
                <a:lnSpc>
                  <a:spcPct val="82000"/>
                </a:lnSpc>
              </a:pPr>
              <a:r>
                <a:rPr sz="2300" kern="0" spc="2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</a:t>
              </a:r>
              <a:endParaRPr sz="2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2573057" y="4787944"/>
            <a:ext cx="882673" cy="438131"/>
            <a:chOff x="0" y="0"/>
            <a:chExt cx="882673" cy="438131"/>
          </a:xfrm>
        </p:grpSpPr>
        <p:pic>
          <p:nvPicPr>
            <p:cNvPr id="110" name="picture 1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882673" cy="438131"/>
            </a:xfrm>
            <a:prstGeom prst="rect">
              <a:avLst/>
            </a:prstGeom>
          </p:spPr>
        </p:pic>
        <p:sp>
          <p:nvSpPr>
            <p:cNvPr id="112" name="textbox 112"/>
            <p:cNvSpPr/>
            <p:nvPr/>
          </p:nvSpPr>
          <p:spPr>
            <a:xfrm>
              <a:off x="-12700" y="-12700"/>
              <a:ext cx="908685" cy="5245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3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4541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2100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User</a:t>
              </a:r>
              <a:endParaRPr sz="2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12585639" y="5924531"/>
            <a:ext cx="863623" cy="444471"/>
            <a:chOff x="0" y="0"/>
            <a:chExt cx="863623" cy="444471"/>
          </a:xfrm>
        </p:grpSpPr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863623" cy="444471"/>
            </a:xfrm>
            <a:prstGeom prst="rect">
              <a:avLst/>
            </a:prstGeom>
          </p:spPr>
        </p:pic>
        <p:sp>
          <p:nvSpPr>
            <p:cNvPr id="116" name="textbox 116"/>
            <p:cNvSpPr/>
            <p:nvPr/>
          </p:nvSpPr>
          <p:spPr>
            <a:xfrm>
              <a:off x="-12700" y="-12700"/>
              <a:ext cx="889635" cy="536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33350" algn="l" rtl="0" eaLnBrk="0">
                <a:lnSpc>
                  <a:spcPct val="82000"/>
                </a:lnSpc>
              </a:pPr>
              <a:r>
                <a:rPr sz="2300" kern="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User</a:t>
              </a:r>
              <a:endParaRPr sz="2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10716796" y="3688627"/>
            <a:ext cx="4831715" cy="4701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阶段二：性能与业务演进(未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来展望)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4005" indent="-161290" algn="l" rtl="0" eaLnBrk="0">
              <a:lnSpc>
                <a:spcPct val="111000"/>
              </a:lnSpc>
              <a:spcBef>
                <a:spcPts val="630"/>
              </a:spcBef>
            </a:pPr>
            <a:r>
              <a:rPr sz="2100" b="1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业务深度拓展：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引入作业效率精细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化指标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(达标率、生产率、时间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利用率)。</a:t>
            </a:r>
            <a:endParaRPr sz="21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2715" algn="l" rtl="0" eaLnBrk="0">
              <a:lnSpc>
                <a:spcPct val="95000"/>
              </a:lnSpc>
              <a:spcBef>
                <a:spcPts val="670"/>
              </a:spcBef>
            </a:pPr>
            <a:r>
              <a:rPr sz="2200" b="1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底层海量扩容：</a:t>
            </a:r>
            <a:r>
              <a:rPr sz="2200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存储端</a:t>
            </a:r>
            <a:r>
              <a:rPr sz="2200" kern="0" spc="-1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平滑迁移至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28905" algn="l" rtl="0" eaLnBrk="0">
              <a:lnSpc>
                <a:spcPct val="97000"/>
              </a:lnSpc>
              <a:spcBef>
                <a:spcPts val="460"/>
              </a:spcBef>
            </a:pP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MySQL,</a:t>
            </a:r>
            <a:r>
              <a:rPr sz="2200" kern="0" spc="-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支撑未来</a:t>
            </a:r>
            <a:r>
              <a:rPr sz="22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百万</a:t>
            </a:r>
            <a:r>
              <a:rPr sz="2200" b="1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级数据</a:t>
            </a:r>
            <a:r>
              <a:rPr sz="2200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高并发读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取。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4005" indent="-161290" algn="l" rtl="0" eaLnBrk="0">
              <a:lnSpc>
                <a:spcPct val="106000"/>
              </a:lnSpc>
              <a:spcBef>
                <a:spcPts val="5"/>
              </a:spcBef>
            </a:pPr>
            <a:r>
              <a:rPr sz="2100" b="1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前端体验重构：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全面</a:t>
            </a:r>
            <a:r>
              <a:rPr lang="zh-CN" sz="21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前后端分离架构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(如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Vue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React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),  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实现极致的单页应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用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(SPA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)</a:t>
            </a:r>
            <a:r>
              <a:rPr sz="2100" kern="0" spc="-3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交互体验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100" dirty="0">
              <a:latin typeface="黑体"/>
              <a:ea typeface="黑体"/>
              <a:cs typeface="黑体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2070168" y="4743892"/>
            <a:ext cx="4487545" cy="289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7160" algn="l" rtl="0" eaLnBrk="0">
              <a:lnSpc>
                <a:spcPct val="98000"/>
              </a:lnSpc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阶段一：里程碑达成(当前版本)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3810" algn="l" rtl="0" eaLnBrk="0">
              <a:lnSpc>
                <a:spcPct val="113000"/>
              </a:lnSpc>
              <a:spcBef>
                <a:spcPts val="630"/>
              </a:spcBef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全链路闭环：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成功实现认证、制图、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检索、分析、数据管理5大核心功能。</a:t>
            </a:r>
            <a:endParaRPr sz="21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3810" algn="l" rtl="0" eaLnBrk="0">
              <a:lnSpc>
                <a:spcPct val="112000"/>
              </a:lnSpc>
              <a:spcBef>
                <a:spcPts val="5"/>
              </a:spcBef>
            </a:pP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高可靠验证：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系统运行表现稳定，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核心测试用例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100%通过率。</a:t>
            </a:r>
            <a:endParaRPr sz="2100" dirty="0">
              <a:latin typeface="黑体"/>
              <a:ea typeface="黑体"/>
              <a:cs typeface="黑体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743692" y="463075"/>
            <a:ext cx="7900669" cy="645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7000"/>
              </a:lnSpc>
            </a:pPr>
            <a:r>
              <a:rPr sz="4200" b="1" kern="0" spc="-370" dirty="0">
                <a:solidFill>
                  <a:srgbClr val="405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从稳定交付到</a:t>
            </a:r>
            <a:r>
              <a:rPr sz="4200" b="1" kern="0" spc="-360" dirty="0">
                <a:solidFill>
                  <a:srgbClr val="405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企业级架构的演进路</a:t>
            </a:r>
            <a:r>
              <a:rPr sz="4200" b="1" kern="0" spc="-140" dirty="0">
                <a:solidFill>
                  <a:srgbClr val="40506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线</a:t>
            </a:r>
            <a:endParaRPr sz="4200" dirty="0">
              <a:latin typeface="黑体"/>
              <a:ea typeface="黑体"/>
              <a:cs typeface="黑体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388868" y="2273271"/>
            <a:ext cx="1492206" cy="984236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46508" y="3105156"/>
            <a:ext cx="1181148" cy="1174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640330" y="2824480"/>
            <a:ext cx="8565515" cy="2831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1820"/>
              </a:spcBef>
            </a:pPr>
            <a:r>
              <a:rPr lang="en-US" altLang="zh-CN" sz="13800" kern="0" spc="-250" dirty="0">
                <a:solidFill>
                  <a:srgbClr val="406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Thanks！</a:t>
            </a:r>
            <a:endParaRPr sz="115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7500" algn="l" rtl="0" eaLnBrk="0">
              <a:lnSpc>
                <a:spcPct val="94000"/>
              </a:lnSpc>
              <a:spcBef>
                <a:spcPts val="850"/>
              </a:spcBef>
            </a:pPr>
            <a:endParaRPr lang="zh-CN" altLang="en-US" sz="2800" kern="0" spc="-10" dirty="0">
              <a:solidFill>
                <a:srgbClr val="000000">
                  <a:alpha val="100000"/>
                </a:srgbClr>
              </a:solidFill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2130"/>
            <a:ext cx="6931660" cy="41414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5191125"/>
            <a:ext cx="8738235" cy="4561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5225415"/>
            <a:ext cx="7809865" cy="4561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6350" y="8933815"/>
            <a:ext cx="2228850" cy="81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WPS 文字</Application>
  <PresentationFormat/>
  <Paragraphs>287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Arial</vt:lpstr>
      <vt:lpstr>黑体</vt:lpstr>
      <vt:lpstr>汉仪中黑KW</vt:lpstr>
      <vt:lpstr>Heiti SC Light</vt:lpstr>
      <vt:lpstr>Times New Roman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2251002077</cp:lastModifiedBy>
  <cp:revision>6</cp:revision>
  <dcterms:created xsi:type="dcterms:W3CDTF">2026-06-03T03:00:10Z</dcterms:created>
  <dcterms:modified xsi:type="dcterms:W3CDTF">2026-06-03T03:00:10Z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2026-06-01T23:08:35Z</vt:filetime>
  </property>
  <property fmtid="{D5CDD505-2E9C-101B-9397-08002B2CF9AE}" pid="4" name="UsrData">
    <vt:lpwstr>6a1d2fde6b2042001f0bc9dewl</vt:lpwstr>
  </property>
  <property fmtid="{D5CDD505-2E9C-101B-9397-08002B2CF9AE}" pid="5" name="KSOProductBuildVer">
    <vt:lpwstr>2052-12.1.25869.25869</vt:lpwstr>
  </property>
  <property fmtid="{D5CDD505-2E9C-101B-9397-08002B2CF9AE}" pid="6" name="ICV">
    <vt:lpwstr>6A6579AFA3BB7C519A341D6A0581F9D3_43</vt:lpwstr>
  </property>
</Properties>
</file>